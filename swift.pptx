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47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0F2A47"/>
                </a:solidFill>
                <a:latin typeface="Georgia"/>
              </a:rPr>
              <a:t>Sanction-type composition (% of total)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Trade</c:v>
                </c:pt>
              </c:strCache>
            </c:strRef>
          </c:tx>
          <c:spPr>
            <a:solidFill>
              <a:srgbClr val="0F2A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1950s</c:v>
                  </c:pt>
                  <c:pt idx="1">
                    <c:v>1970s</c:v>
                  </c:pt>
                  <c:pt idx="2">
                    <c:v>1990s</c:v>
                  </c:pt>
                  <c:pt idx="3">
                    <c:v>2010s</c:v>
                  </c:pt>
                  <c:pt idx="4">
                    <c:v>2022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</c:v>
                </c:pt>
                <c:pt idx="1">
                  <c:v>40</c:v>
                </c:pt>
                <c:pt idx="2">
                  <c:v>28</c:v>
                </c:pt>
                <c:pt idx="3">
                  <c:v>22</c:v>
                </c:pt>
                <c:pt idx="4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Arms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1950s</c:v>
                  </c:pt>
                  <c:pt idx="1">
                    <c:v>1970s</c:v>
                  </c:pt>
                  <c:pt idx="2">
                    <c:v>1990s</c:v>
                  </c:pt>
                  <c:pt idx="3">
                    <c:v>2010s</c:v>
                  </c:pt>
                  <c:pt idx="4">
                    <c:v>2022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</c:v>
                </c:pt>
                <c:pt idx="1">
                  <c:v>22</c:v>
                </c:pt>
                <c:pt idx="2">
                  <c:v>22</c:v>
                </c:pt>
                <c:pt idx="3">
                  <c:v>18</c:v>
                </c:pt>
                <c:pt idx="4">
                  <c:v>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Financial</c:v>
                </c:pt>
              </c:strCache>
            </c:strRef>
          </c:tx>
          <c:spPr>
            <a:solidFill>
              <a:srgbClr val="A02C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1950s</c:v>
                  </c:pt>
                  <c:pt idx="1">
                    <c:v>1970s</c:v>
                  </c:pt>
                  <c:pt idx="2">
                    <c:v>1990s</c:v>
                  </c:pt>
                  <c:pt idx="3">
                    <c:v>2010s</c:v>
                  </c:pt>
                  <c:pt idx="4">
                    <c:v>2022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</c:v>
                </c:pt>
                <c:pt idx="1">
                  <c:v>14</c:v>
                </c:pt>
                <c:pt idx="2">
                  <c:v>22</c:v>
                </c:pt>
                <c:pt idx="3">
                  <c:v>28</c:v>
                </c:pt>
                <c:pt idx="4">
                  <c:v>30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Travel</c:v>
                </c:pt>
              </c:strCache>
            </c:strRef>
          </c:tx>
          <c:spPr>
            <a:solidFill>
              <a:srgbClr val="C8A3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1950s</c:v>
                  </c:pt>
                  <c:pt idx="1">
                    <c:v>1970s</c:v>
                  </c:pt>
                  <c:pt idx="2">
                    <c:v>1990s</c:v>
                  </c:pt>
                  <c:pt idx="3">
                    <c:v>2010s</c:v>
                  </c:pt>
                  <c:pt idx="4">
                    <c:v>2022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</c:v>
                </c:pt>
                <c:pt idx="1">
                  <c:v>8</c:v>
                </c:pt>
                <c:pt idx="2">
                  <c:v>13</c:v>
                </c:pt>
                <c:pt idx="3">
                  <c:v>18</c:v>
                </c:pt>
                <c:pt idx="4">
                  <c:v>22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Military</c:v>
                </c:pt>
              </c:strCache>
            </c:strRef>
          </c:tx>
          <c:spPr>
            <a:solidFill>
              <a:srgbClr val="98C1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1950s</c:v>
                  </c:pt>
                  <c:pt idx="1">
                    <c:v>1970s</c:v>
                  </c:pt>
                  <c:pt idx="2">
                    <c:v>1990s</c:v>
                  </c:pt>
                  <c:pt idx="3">
                    <c:v>2010s</c:v>
                  </c:pt>
                  <c:pt idx="4">
                    <c:v>2022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10</c:v>
                </c:pt>
                <c:pt idx="3">
                  <c:v>8</c:v>
                </c:pt>
                <c:pt idx="4">
                  <c:v>8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9AA5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1950s</c:v>
                  </c:pt>
                  <c:pt idx="1">
                    <c:v>1970s</c:v>
                  </c:pt>
                  <c:pt idx="2">
                    <c:v>1990s</c:v>
                  </c:pt>
                  <c:pt idx="3">
                    <c:v>2010s</c:v>
                  </c:pt>
                  <c:pt idx="4">
                    <c:v>2022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5</c:v>
                </c:pt>
                <c:pt idx="3">
                  <c:v>6</c:v>
                </c:pt>
                <c:pt idx="4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2A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4E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F2A4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7F4E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Currency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2A47"/>
              </a:solidFill>
              <a:effectLst/>
            </c:spPr>
          </c:dPt>
          <c:dPt>
            <c:idx val="1"/>
            <c:bubble3D val="0"/>
            <c:spPr>
              <a:solidFill>
                <a:srgbClr val="A02C2C"/>
              </a:solidFill>
              <a:effectLst/>
            </c:spPr>
          </c:dPt>
          <c:dPt>
            <c:idx val="2"/>
            <c:bubble3D val="0"/>
            <c:spPr>
              <a:solidFill>
                <a:srgbClr val="C8A35E"/>
              </a:solidFill>
              <a:effectLst/>
            </c:spPr>
          </c:dPt>
          <c:dPt>
            <c:idx val="3"/>
            <c:bubble3D val="0"/>
            <c:spPr>
              <a:solidFill>
                <a:srgbClr val="3D5A80"/>
              </a:solidFill>
              <a:effectLst/>
            </c:spPr>
          </c:dPt>
          <c:dPt>
            <c:idx val="4"/>
            <c:bubble3D val="0"/>
            <c:spPr>
              <a:solidFill>
                <a:srgbClr val="9AA5B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USD</c:v>
                </c:pt>
                <c:pt idx="1">
                  <c:v>EUR</c:v>
                </c:pt>
                <c:pt idx="2">
                  <c:v>GBP</c:v>
                </c:pt>
                <c:pt idx="3">
                  <c:v>JPY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44</c:v>
                </c:pt>
                <c:pt idx="1">
                  <c:v>37</c:v>
                </c:pt>
                <c:pt idx="2">
                  <c:v>7</c:v>
                </c:pt>
                <c:pt idx="3">
                  <c:v>3</c:v>
                </c:pt>
                <c:pt idx="4">
                  <c:v>9</c:v>
                </c:pt>
              </c:numCache>
            </c:numRef>
          </c:val>
        </c:ser>
        <c:firstSliceAng val="0"/>
        <c:holeSize val="55"/>
      </c:doughnutChart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47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0F2A47"/>
                </a:solidFill>
                <a:latin typeface="Georgia"/>
              </a:rPr>
              <a:t>Connected institutions (approx.)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Connected institutions</c:v>
                </c:pt>
              </c:strCache>
            </c:strRef>
          </c:tx>
          <c:spPr>
            <a:solidFill>
              <a:srgbClr val="0F2A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F2A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SWIFT</c:v>
                  </c:pt>
                  <c:pt idx="1">
                    <c:v>CIPS (CN)</c:v>
                  </c:pt>
                  <c:pt idx="2">
                    <c:v>SFMS (IN)*</c:v>
                  </c:pt>
                  <c:pt idx="3">
                    <c:v>SPFS (RU)</c:v>
                  </c:pt>
                  <c:pt idx="4">
                    <c:v>INSTEX (EU)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11000</c:v>
                </c:pt>
                <c:pt idx="1">
                  <c:v>1280</c:v>
                </c:pt>
                <c:pt idx="2">
                  <c:v>250</c:v>
                </c:pt>
                <c:pt idx="3">
                  <c:v>52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F2A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0F2A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6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4EC"/>
        </a:solidFill>
        <a:ln>
          <a:noFill/>
        </a:ln>
        <a:effectLst/>
      </c:spPr>
    </c:plotArea>
    <c:plotVisOnly val="1"/>
    <c:dispBlanksAs val="span"/>
  </c:chart>
  <c:spPr>
    <a:solidFill>
      <a:srgbClr val="F7F4E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73152" cy="3657600"/>
          </a:xfrm>
          <a:prstGeom prst="rect">
            <a:avLst/>
          </a:prstGeom>
          <a:solidFill>
            <a:srgbClr val="C8A35E"/>
          </a:solidFill>
          <a:ln w="12700">
            <a:solidFill>
              <a:srgbClr val="C8A3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8A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PRESENTATION  · 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87452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Sanctions, SWIFT,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International Payment System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4114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synthesis of Morgan, Syropoulos &amp; Yotov (2023) and Cipriani, Goldberg &amp; La Spada (2023)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 Basej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Economic Perspectives, Vol. 37, No. 1 (Winter 2023)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365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9AA5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topic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February–March 2022: the biggest weaponization of payment infrastructure in history.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3383280" cy="73152"/>
          </a:xfrm>
          <a:prstGeom prst="rect">
            <a:avLst/>
          </a:prstGeom>
          <a:solidFill>
            <a:srgbClr val="A02C2C"/>
          </a:solidFill>
          <a:ln w="12700">
            <a:solidFill>
              <a:srgbClr val="A02C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860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0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$300bn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Russian central-bank reserves frozen across G7 jurisdictions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7091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reserve immobilization ever attempted against a major economy.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920240"/>
            <a:ext cx="3383280" cy="73152"/>
          </a:xfrm>
          <a:prstGeom prst="rect">
            <a:avLst/>
          </a:prstGeom>
          <a:solidFill>
            <a:srgbClr val="A02C2C"/>
          </a:solidFill>
          <a:ln w="12700">
            <a:solidFill>
              <a:srgbClr val="A02C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2860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0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banks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892040" y="3703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from SWIFT in 18 days (7 RU + 3 BY)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47091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a major economy was partially expelled from the messaging network.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0" y="1920240"/>
            <a:ext cx="3383280" cy="73152"/>
          </a:xfrm>
          <a:prstGeom prst="rect">
            <a:avLst/>
          </a:prstGeom>
          <a:solidFill>
            <a:srgbClr val="A02C2C"/>
          </a:solidFill>
          <a:ln w="12700">
            <a:solidFill>
              <a:srgbClr val="A02C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22860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0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915400" y="3703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cases meet their stated political objective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15400" y="47091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damage is robust; political success remains modest.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JEP papers (Winter 2023) explain how we got here — and we'll read them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365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9AA5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papers, one 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evolved because the payment system created a new lever.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109728" cy="32918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Morgan, Syropoulos &amp; Yotov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years of sanctions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Sanctions Data Base — 1,325 cases since 1950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~10× more active sanctions per year vs 1950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out, financial &amp; travel measures in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Multilateral coalitions replace unilateral US action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920240"/>
            <a:ext cx="5394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920240"/>
            <a:ext cx="109728" cy="3291840"/>
          </a:xfrm>
          <a:prstGeom prst="rect">
            <a:avLst/>
          </a:prstGeom>
          <a:solidFill>
            <a:srgbClr val="C8A35E"/>
          </a:solidFill>
          <a:ln w="12700">
            <a:solidFill>
              <a:srgbClr val="C8A3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103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Cipriani, Goldberg &amp; La Spada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37960" y="3017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financial sanctions hit so hard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Fed — architecture of cross-border payments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37490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Correspondent banking: a thinning network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SWIFT: the messaging chokepoint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dollar clearing as extraterritorial leverage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440680"/>
            <a:ext cx="11018520" cy="10515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5321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A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COMBINED ARGUMENT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5806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Sanctioning power today rests less on tariffs and embargoes than on privileged access to dollar-denominated payment infrastructure.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365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9AA5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sanctions evolved, 1950–2022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eras, traced through the Global Sanctions Data Base.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828800"/>
          <a:ext cx="64008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1828800"/>
            <a:ext cx="4297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0" y="1828800"/>
            <a:ext cx="73152" cy="1051560"/>
          </a:xfrm>
          <a:prstGeom prst="rect">
            <a:avLst/>
          </a:prstGeom>
          <a:solidFill>
            <a:srgbClr val="C8A35E"/>
          </a:solidFill>
          <a:ln w="12700">
            <a:solidFill>
              <a:srgbClr val="C8A3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1920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1950–75 · Early Cold War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98080" y="22402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trade or arms embargoes. Mostly US unilateral. Cuba, Soviet bloc, North Korea.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315200" y="2990088"/>
            <a:ext cx="4297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2990088"/>
            <a:ext cx="73152" cy="1051560"/>
          </a:xfrm>
          <a:prstGeom prst="rect">
            <a:avLst/>
          </a:prstGeom>
          <a:solidFill>
            <a:srgbClr val="C8A35E"/>
          </a:solidFill>
          <a:ln w="12700">
            <a:solidFill>
              <a:srgbClr val="C8A3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081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1975–90 · Late Cold War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498080" y="34015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sanctions emerge. Chile's "invisible blockade"; Anti-Apartheid Act on South Africa (1986).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15200" y="4151376"/>
            <a:ext cx="4297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15200" y="4151376"/>
            <a:ext cx="73152" cy="1051560"/>
          </a:xfrm>
          <a:prstGeom prst="rect">
            <a:avLst/>
          </a:prstGeom>
          <a:solidFill>
            <a:srgbClr val="C8A35E"/>
          </a:solidFill>
          <a:ln w="12700">
            <a:solidFill>
              <a:srgbClr val="C8A3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0" y="42428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 · Sanctions decade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498080" y="456285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Multilateral via UN/EU. Human rights &amp; democracy replace regime change.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315200" y="5312664"/>
            <a:ext cx="4297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0" y="5312664"/>
            <a:ext cx="73152" cy="1051560"/>
          </a:xfrm>
          <a:prstGeom prst="rect">
            <a:avLst/>
          </a:prstGeom>
          <a:solidFill>
            <a:srgbClr val="C8A35E"/>
          </a:solidFill>
          <a:ln w="12700">
            <a:solidFill>
              <a:srgbClr val="C8A3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0" y="54041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2001+ · Post-9/11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498080" y="572414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Targeted, individual designations. US extraterritoriality via the dollar. SWIFT becomes a tool.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Global Sanctions Data Base (Felbermayr et al. 2020; Syropoulos et al. 2022). Shares illustrative.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365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9AA5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cross-border payment actually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global payment rail. Banks rely on a web of correspondents — and SWIFT.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063240"/>
            <a:ext cx="2194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Sender's Bank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A · Nostro: yen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3063240"/>
            <a:ext cx="2194560" cy="1188720"/>
          </a:xfrm>
          <a:prstGeom prst="rect">
            <a:avLst/>
          </a:prstGeom>
          <a:solidFill>
            <a:srgbClr val="D9E2EC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3520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 · USD account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3063240"/>
            <a:ext cx="2194560" cy="1188720"/>
          </a:xfrm>
          <a:prstGeom prst="rect">
            <a:avLst/>
          </a:prstGeom>
          <a:solidFill>
            <a:srgbClr val="D9E2EC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3520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 · USD account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823960" y="3063240"/>
            <a:ext cx="2194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1540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Receiver's Bank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15400" y="3520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B · Vostro: yen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51760" y="3657600"/>
            <a:ext cx="594360" cy="0"/>
          </a:xfrm>
          <a:prstGeom prst="line">
            <a:avLst/>
          </a:prstGeom>
          <a:noFill/>
          <a:ln w="25400">
            <a:solidFill>
              <a:srgbClr val="0F2A47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651760" y="3154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payment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40680" y="320040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Country 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0" y="3657600"/>
            <a:ext cx="594360" cy="0"/>
          </a:xfrm>
          <a:prstGeom prst="line">
            <a:avLst/>
          </a:prstGeom>
          <a:noFill/>
          <a:ln w="25400">
            <a:solidFill>
              <a:srgbClr val="0F2A47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229600" y="3154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payment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011680"/>
            <a:ext cx="11155680" cy="640080"/>
          </a:xfrm>
          <a:prstGeom prst="roundRect">
            <a:avLst>
              <a:gd name="adj" fmla="val 14286"/>
            </a:avLst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0116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messaging — same instructions travel through every step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554480" y="2651760"/>
            <a:ext cx="0" cy="411480"/>
          </a:xfrm>
          <a:prstGeom prst="line">
            <a:avLst/>
          </a:prstGeom>
          <a:noFill/>
          <a:ln w="19050">
            <a:solidFill>
              <a:srgbClr val="C8A35E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343400" y="2651760"/>
            <a:ext cx="0" cy="411480"/>
          </a:xfrm>
          <a:prstGeom prst="line">
            <a:avLst/>
          </a:prstGeom>
          <a:noFill/>
          <a:ln w="19050">
            <a:solidFill>
              <a:srgbClr val="C8A35E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7132320" y="2651760"/>
            <a:ext cx="0" cy="411480"/>
          </a:xfrm>
          <a:prstGeom prst="line">
            <a:avLst/>
          </a:prstGeom>
          <a:noFill/>
          <a:ln w="19050">
            <a:solidFill>
              <a:srgbClr val="C8A35E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9921240" y="2651760"/>
            <a:ext cx="0" cy="411480"/>
          </a:xfrm>
          <a:prstGeom prst="line">
            <a:avLst/>
          </a:prstGeom>
          <a:noFill/>
          <a:ln w="19050">
            <a:solidFill>
              <a:srgbClr val="C8A35E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40080" y="4937760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937760"/>
            <a:ext cx="109728" cy="1554480"/>
          </a:xfrm>
          <a:prstGeom prst="rect">
            <a:avLst/>
          </a:prstGeom>
          <a:solidFill>
            <a:srgbClr val="A02C2C"/>
          </a:solidFill>
          <a:ln w="12700">
            <a:solidFill>
              <a:srgbClr val="A02C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029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NOSTRO / VOSTRO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" y="5303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"Our" account abroad / "your" account here.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" y="5715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3-currency payment can need three banks in three countries. The chain is fragile — and shrinking.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63640" y="4937760"/>
            <a:ext cx="5394960" cy="15544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49834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A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–22%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8686800" y="50292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DE-RISKING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correspondent links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 ~22% from 2011 to 2019</a:t>
            </a:r>
            <a:endParaRPr lang="en-US" sz="1000" dirty="0"/>
          </a:p>
          <a:p>
            <a:pPr indent="0" marL="0">
              <a:buNone/>
            </a:pPr>
            <a:r>
              <a:rPr lang="en-US" sz="11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compliance costs rose. Steepest decline in Latin America, Africa, Oceania.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365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9AA5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SWIFT: the choke point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as a neutral cooperative in 1973. Now the de facto global communication backbone.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4937760" cy="43891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0240"/>
            <a:ext cx="4937760" cy="73152"/>
          </a:xfrm>
          <a:prstGeom prst="rect">
            <a:avLst/>
          </a:prstGeom>
          <a:solidFill>
            <a:srgbClr val="C8A35E"/>
          </a:solidFill>
          <a:ln w="12700">
            <a:solidFill>
              <a:srgbClr val="C8A3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8A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STORY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239 banks vs Citibank's MARTI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1973: Citibank tried to lock the world into its proprietary messaging system. Europeans refused, formed a Belgian cooperative, and wrote the standards everyone now uses.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461772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SWIFT is NOT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a bank   ✗ not clearing   ✗ not settlement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8A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messages + ISO standards (BIC, IBAN, ISO 20022)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06440" y="1920240"/>
            <a:ext cx="5852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8932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 (2020)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89320" y="2331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11,000+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98932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09560" y="2331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90956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29800" y="2331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9.5 bn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8298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/ yr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06440" y="4069080"/>
            <a:ext cx="58521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8932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VALUE BY CURRENCY</a:t>
            </a:r>
            <a:endParaRPr lang="en-US" sz="10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5852160" y="4434840"/>
          <a:ext cx="23774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412480" y="4526280"/>
            <a:ext cx="1645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 44%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 37%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A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   7%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JPY   3%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9%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104120" y="457200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Dollar/euro centrality is structural — and gives the West outsized leverage.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365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9AA5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SWIFT as a sanctions weapon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Neutrality eroded under US dollar-clearing pressure — case by case.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10515600" cy="0"/>
          </a:xfrm>
          <a:prstGeom prst="line">
            <a:avLst/>
          </a:prstGeom>
          <a:noFill/>
          <a:ln w="38100">
            <a:solidFill>
              <a:srgbClr val="0F2A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35608" y="3813048"/>
            <a:ext cx="237744" cy="237744"/>
          </a:xfrm>
          <a:prstGeom prst="ellipse">
            <a:avLst/>
          </a:prstGeom>
          <a:solidFill>
            <a:srgbClr val="0F2A4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2004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08660" y="4251960"/>
            <a:ext cx="1691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4380" y="4343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Myanmar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4380" y="47548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refuses to disconnect Myanmar banks. Stresses neutrality.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01568" y="3813048"/>
            <a:ext cx="237744" cy="237744"/>
          </a:xfrm>
          <a:prstGeom prst="ellipse">
            <a:avLst/>
          </a:prstGeom>
          <a:solidFill>
            <a:srgbClr val="A02C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0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674620" y="4251960"/>
            <a:ext cx="1691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20340" y="4343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 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20340" y="47548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Reg 267/2012 forces disconnection. US Iran-Sanctions Act drove it.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67528" y="3813048"/>
            <a:ext cx="237744" cy="237744"/>
          </a:xfrm>
          <a:prstGeom prst="ellipse">
            <a:avLst/>
          </a:prstGeom>
          <a:solidFill>
            <a:srgbClr val="0F2A4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640580" y="4251960"/>
            <a:ext cx="1691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86300" y="4343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6300" y="47548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Parliament urges SWIFT to cut Russia after Crimea. SWIFT publicly resists.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33488" y="3813048"/>
            <a:ext cx="237744" cy="237744"/>
          </a:xfrm>
          <a:prstGeom prst="ellipse">
            <a:avLst/>
          </a:prstGeom>
          <a:solidFill>
            <a:srgbClr val="A02C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0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606540" y="4251960"/>
            <a:ext cx="1691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52260" y="4343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Korea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52260" y="47548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pulls service. SWIFT extends voluntarily to remaining DPRK banks.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299448" y="3813048"/>
            <a:ext cx="237744" cy="237744"/>
          </a:xfrm>
          <a:prstGeom prst="ellipse">
            <a:avLst/>
          </a:prstGeom>
          <a:solidFill>
            <a:srgbClr val="A02C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0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572500" y="4251960"/>
            <a:ext cx="1691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18220" y="4343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 II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18220" y="47548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exits JCPOA. EU did not require it — SWIFT cut Iran anyway.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853928" y="3813048"/>
            <a:ext cx="237744" cy="237744"/>
          </a:xfrm>
          <a:prstGeom prst="ellipse">
            <a:avLst/>
          </a:prstGeom>
          <a:solidFill>
            <a:srgbClr val="A02C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3272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0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10126980" y="4251960"/>
            <a:ext cx="1691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0172700" y="4343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172700" y="47548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RU+BY banks cut in 18 days. Major economy partially expelled.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0080" y="2011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                             COMPLIED  ·  COMPLIED  ·  COMPLIED  ·  COMPLIED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US secondary sanctions threaten SWIFT itself, the cost of neutrality outweighs the cost of compliance.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365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9AA5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sanctions actually work?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Economists ask one question; political scientists ask another. The answers diverge.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42062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8A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Significant and lasting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Negative effects on target trade, FDI, growth, political stability.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Effects often persist after sanctions are lifted.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Sender's own costs are usually small — except 2022 EU energy.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Third countries gain (general equilibrium) — unless secondary sanctions reach them.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828800"/>
            <a:ext cx="109728" cy="4206240"/>
          </a:xfrm>
          <a:prstGeom prst="rect">
            <a:avLst/>
          </a:prstGeom>
          <a:solidFill>
            <a:srgbClr val="A02C2C"/>
          </a:solidFill>
          <a:ln w="12700">
            <a:solidFill>
              <a:srgbClr val="A02C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SUCCESS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Modest, but improving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37960" y="3063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0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~33%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326880" y="3154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cases reach their stated objectives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37960" y="41605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Multilateral </a:t>
            </a:r>
            <a:pPr indent="0" marL="0">
              <a:buNone/>
            </a:pPr>
            <a:r>
              <a:rPr lang="en-US" sz="130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unilateral.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Smart/financial </a:t>
            </a:r>
            <a:pPr indent="0" marL="0">
              <a:buNone/>
            </a:pPr>
            <a:r>
              <a:rPr lang="en-US" sz="130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blunt trade embargoes.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rights / democracy goals </a:t>
            </a:r>
            <a:pPr indent="0" marL="0">
              <a:buNone/>
            </a:pPr>
            <a:r>
              <a:rPr lang="en-US" sz="130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(~45–50%) outperform regime change (&lt;20%).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toward financial sanctions is a rational response to 70 years of accumulated experience.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365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9AA5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Alternatives to SWIFT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but small. Insurance policies, not substitutes — yet.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828800"/>
          <a:ext cx="59436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263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SFMS is domestic-only; INSTEX is a clearinghouse, not a messaging network.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766560" y="1828800"/>
            <a:ext cx="484632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0" y="1828800"/>
            <a:ext cx="73152" cy="1033272"/>
          </a:xfrm>
          <a:prstGeom prst="rect">
            <a:avLst/>
          </a:prstGeom>
          <a:solidFill>
            <a:srgbClr val="A02C2C"/>
          </a:solidFill>
          <a:ln w="12700">
            <a:solidFill>
              <a:srgbClr val="A02C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944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SPFS · Russia · 2014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49440" y="2240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of RU domestic interbank transfers (2021). Foreign participants grew from 12 → 52+ before publication stopped.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766560" y="2971800"/>
            <a:ext cx="484632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66560" y="2971800"/>
            <a:ext cx="73152" cy="1033272"/>
          </a:xfrm>
          <a:prstGeom prst="rect">
            <a:avLst/>
          </a:prstGeom>
          <a:solidFill>
            <a:srgbClr val="A02C2C"/>
          </a:solidFill>
          <a:ln w="12700">
            <a:solidFill>
              <a:srgbClr val="A02C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CIPS · China · 2015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49440" y="3383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1,280 participants from 103 countries. Cleared ~$12.7 trillion in 2021 — but ~0.3% of SWIFT, and most still use SWIFT messaging.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766560" y="4114800"/>
            <a:ext cx="484632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66560" y="4114800"/>
            <a:ext cx="73152" cy="1033272"/>
          </a:xfrm>
          <a:prstGeom prst="rect">
            <a:avLst/>
          </a:prstGeom>
          <a:solidFill>
            <a:srgbClr val="A02C2C"/>
          </a:solidFill>
          <a:ln w="12700">
            <a:solidFill>
              <a:srgbClr val="A02C2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INSTEX · EU · 2019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949440" y="4526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EU–Iran humanitarian clearinghouse. First transaction not until March 2020. Marginal use.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766560" y="5257800"/>
            <a:ext cx="484632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66560" y="5257800"/>
            <a:ext cx="73152" cy="1033272"/>
          </a:xfrm>
          <a:prstGeom prst="rect">
            <a:avLst/>
          </a:prstGeom>
          <a:solidFill>
            <a:srgbClr val="A02C2C"/>
          </a:solidFill>
          <a:ln w="12700">
            <a:solidFill>
              <a:srgbClr val="A02C2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49440" y="5349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SFMS · India · 2001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49440" y="5669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Domestic-only messaging. ISO 20022-compatible. No cross-border ambition.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766560" y="6263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but small. But every round of sanctions strengthens the incentive to keep building.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365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9AA5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Russia 2022: the apex case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a major WTO economy was hit by a coalition with the full toolkit — calibrated.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657600" cy="12801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3657600" cy="54864"/>
          </a:xfrm>
          <a:prstGeom prst="rect">
            <a:avLst/>
          </a:prstGeom>
          <a:solidFill>
            <a:srgbClr val="C8A35E"/>
          </a:solidFill>
          <a:ln w="12700">
            <a:solidFill>
              <a:srgbClr val="C8A3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Asset freezes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+ firms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657600" cy="12801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828800"/>
            <a:ext cx="3657600" cy="54864"/>
          </a:xfrm>
          <a:prstGeom prst="rect">
            <a:avLst/>
          </a:prstGeom>
          <a:solidFill>
            <a:srgbClr val="C8A35E"/>
          </a:solidFill>
          <a:ln w="12700">
            <a:solidFill>
              <a:srgbClr val="C8A3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Central-bank reserves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~$300bn immobilized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828800"/>
            <a:ext cx="3657600" cy="12801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828800"/>
            <a:ext cx="3657600" cy="54864"/>
          </a:xfrm>
          <a:prstGeom prst="rect">
            <a:avLst/>
          </a:prstGeom>
          <a:solidFill>
            <a:srgbClr val="C8A35E"/>
          </a:solidFill>
          <a:ln w="12700">
            <a:solidFill>
              <a:srgbClr val="C8A3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SWIFT exclusion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5820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banks initially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91840"/>
            <a:ext cx="3657600" cy="12801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291840"/>
            <a:ext cx="3657600" cy="54864"/>
          </a:xfrm>
          <a:prstGeom prst="rect">
            <a:avLst/>
          </a:prstGeom>
          <a:solidFill>
            <a:srgbClr val="C8A35E"/>
          </a:solidFill>
          <a:ln w="12700">
            <a:solidFill>
              <a:srgbClr val="C8A3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controls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Semiconductors, dual-use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34840" y="3291840"/>
            <a:ext cx="3657600" cy="12801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3291840"/>
            <a:ext cx="3657600" cy="54864"/>
          </a:xfrm>
          <a:prstGeom prst="rect">
            <a:avLst/>
          </a:prstGeom>
          <a:solidFill>
            <a:srgbClr val="C8A35E"/>
          </a:solidFill>
          <a:ln w="12700">
            <a:solidFill>
              <a:srgbClr val="C8A3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WTO MFN revoked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63440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XXI security exception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0" y="3291840"/>
            <a:ext cx="3657600" cy="12801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3291840"/>
            <a:ext cx="3657600" cy="54864"/>
          </a:xfrm>
          <a:prstGeom prst="rect">
            <a:avLst/>
          </a:prstGeom>
          <a:solidFill>
            <a:srgbClr val="C8A35E"/>
          </a:solidFill>
          <a:ln w="12700">
            <a:solidFill>
              <a:srgbClr val="C8A3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Secondary-sanction threats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58200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Aimed at China, India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937760"/>
            <a:ext cx="11018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937760"/>
            <a:ext cx="109728" cy="1554480"/>
          </a:xfrm>
          <a:prstGeom prst="rect">
            <a:avLst/>
          </a:prstGeom>
          <a:solidFill>
            <a:srgbClr val="A02C2C"/>
          </a:solidFill>
          <a:ln w="12700">
            <a:solidFill>
              <a:srgbClr val="A02C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5029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" y="5303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tools at once — but energy banks initially left in.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" y="5715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sanctioner protects itself in real time. India and China absorb diverted Russian oil — the general-equilibrium leakage that limits the bite.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365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9AA5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 next, 2023–2026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years past the JEP papers — extension and partial reversal.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691640" y="1965960"/>
            <a:ext cx="0" cy="3950208"/>
          </a:xfrm>
          <a:prstGeom prst="line">
            <a:avLst/>
          </a:prstGeom>
          <a:noFill/>
          <a:ln w="25400">
            <a:solidFill>
              <a:srgbClr val="0F2A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2768" y="1874520"/>
            <a:ext cx="237744" cy="237744"/>
          </a:xfrm>
          <a:prstGeom prst="ellipse">
            <a:avLst/>
          </a:prstGeom>
          <a:solidFill>
            <a:srgbClr val="0F2A47"/>
          </a:solidFill>
          <a:ln w="25400">
            <a:solidFill>
              <a:srgbClr val="F7F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G7 oil price cap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78308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60/barrel cap on Russian crude. By 2024, a ~600-tanker shadow fleet bypasses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72768" y="2532888"/>
            <a:ext cx="237744" cy="237744"/>
          </a:xfrm>
          <a:prstGeom prst="ellipse">
            <a:avLst/>
          </a:prstGeom>
          <a:solidFill>
            <a:srgbClr val="A02C2C"/>
          </a:solidFill>
          <a:ln w="25400">
            <a:solidFill>
              <a:srgbClr val="F7F4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871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Biden E.O. 14114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441448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Iran-style secondary sanctions on banks helping Russia's MIC. CN/TR/UAE banks tighten within months.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72768" y="3191256"/>
            <a:ext cx="237744" cy="237744"/>
          </a:xfrm>
          <a:prstGeom prst="ellipse">
            <a:avLst/>
          </a:prstGeom>
          <a:solidFill>
            <a:srgbClr val="0F2A47"/>
          </a:solidFill>
          <a:ln w="25400">
            <a:solidFill>
              <a:srgbClr val="F7F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4553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1455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BRICS+ expansion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099816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Iran, UAE, Egypt, Ethiopia join. Indonesia follows in 2025. Kazan 2024: "BRICS Pay" talked, not built.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572768" y="3849624"/>
            <a:ext cx="237744" cy="237744"/>
          </a:xfrm>
          <a:prstGeom prst="ellipse">
            <a:avLst/>
          </a:prstGeom>
          <a:solidFill>
            <a:srgbClr val="A02C2C"/>
          </a:solidFill>
          <a:ln w="25400">
            <a:solidFill>
              <a:srgbClr val="F7F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039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803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G7 ERA loan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758184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$50bn to Ukraine, repaid from windfall on frozen RU reserves at Euroclear. Stops short of confiscation.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572768" y="4507992"/>
            <a:ext cx="237744" cy="237744"/>
          </a:xfrm>
          <a:prstGeom prst="ellipse">
            <a:avLst/>
          </a:prstGeom>
          <a:solidFill>
            <a:srgbClr val="0F2A47"/>
          </a:solidFill>
          <a:ln w="25400">
            <a:solidFill>
              <a:srgbClr val="F7F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4622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11680" y="44622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exits mBridge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4416552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Multi-CBDC platform with CN/HK/Thai/UAE/SA. BIS quietly steps out — "graduated". Read as: too political.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572768" y="5166360"/>
            <a:ext cx="237744" cy="237744"/>
          </a:xfrm>
          <a:prstGeom prst="ellipse">
            <a:avLst/>
          </a:prstGeom>
          <a:solidFill>
            <a:srgbClr val="0F2A47"/>
          </a:solidFill>
          <a:ln w="25400">
            <a:solidFill>
              <a:srgbClr val="F7F4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1206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1168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Tornado Cash ruling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507492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Circuit: OFAC cannot sanction immutable smart contracts. First judicial limit on extraterritorial reach.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572768" y="5824728"/>
            <a:ext cx="237744" cy="237744"/>
          </a:xfrm>
          <a:prstGeom prst="ellipse">
            <a:avLst/>
          </a:prstGeom>
          <a:solidFill>
            <a:srgbClr val="A02C2C"/>
          </a:solidFill>
          <a:ln w="25400">
            <a:solidFill>
              <a:srgbClr val="F7F4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7790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11680" y="5779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Trump tariffs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5733288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"Reciprocal tariff" package replaces sanctions as headline coercion tool. Partial reversal of 70-year trend.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6400800"/>
            <a:ext cx="11018520" cy="4114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64008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RMB share in SWIFT 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peaked ~4.7% in late 2023 · 4th place behind USD (~48%), EUR (~22%), GBP (~7%) · dollar centrality intact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73152" cy="914400"/>
          </a:xfrm>
          <a:prstGeom prst="rect">
            <a:avLst/>
          </a:prstGeom>
          <a:solidFill>
            <a:srgbClr val="C8A35E"/>
          </a:solidFill>
          <a:ln w="12700">
            <a:solidFill>
              <a:srgbClr val="C8A3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8A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take away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A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828800" y="219456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= infrastructure access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26974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Sanctioning power today rests on privileged access to dollar-denominated payment infrastructure — not on tariffs and embargoes.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A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828800" y="34747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round erodes leverage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0" y="397764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weaponization of SWIFT and dollar clearing creates incentives to leave the system. Long-run leverage is being slowly eroded.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754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A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828800" y="475488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research frontier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52578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still lack a clean theory connecting economic damage to political success. Bridging political-science and economics views is next.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6263640"/>
            <a:ext cx="10972800" cy="0"/>
          </a:xfrm>
          <a:prstGeom prst="line">
            <a:avLst/>
          </a:prstGeom>
          <a:noFill/>
          <a:ln w="12700">
            <a:solidFill>
              <a:srgbClr val="C8A3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Questions?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6355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 Basej  ·  Seminar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Sanctions, SWIFT, and the International Payment System</dc:title>
  <dc:subject>PptxGenJS Presentation</dc:subject>
  <dc:creator>Jaka Basej</dc:creator>
  <cp:lastModifiedBy>Jaka Basej</cp:lastModifiedBy>
  <cp:revision>1</cp:revision>
  <dcterms:created xsi:type="dcterms:W3CDTF">2026-04-30T21:34:04Z</dcterms:created>
  <dcterms:modified xsi:type="dcterms:W3CDTF">2026-04-30T21:34:04Z</dcterms:modified>
</cp:coreProperties>
</file>